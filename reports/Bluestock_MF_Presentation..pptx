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 Bold" panose="020B0604020202020204" charset="0"/>
      <p:regular r:id="rId14"/>
    </p:embeddedFont>
    <p:embeddedFont>
      <p:font typeface="DejaVu Sans Bold" panose="020B0604020202020204" charset="0"/>
      <p:regular r:id="rId15"/>
    </p:embeddedFont>
    <p:embeddedFont>
      <p:font typeface="DejaVu Sans Light" panose="020B0604020202020204" charset="0"/>
      <p:regular r:id="rId16"/>
    </p:embeddedFont>
    <p:embeddedFont>
      <p:font typeface="Open Sans" panose="020B0606030504020204" pitchFamily="34" charset="0"/>
      <p:regular r:id="rId17"/>
    </p:embeddedFont>
    <p:embeddedFont>
      <p:font typeface="PT Sans" panose="020F050202020403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5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757497" y="5545751"/>
            <a:ext cx="542405" cy="2057400"/>
          </a:xfrm>
          <a:custGeom>
            <a:avLst/>
            <a:gdLst/>
            <a:ahLst/>
            <a:cxnLst/>
            <a:rect l="l" t="t" r="r" b="b"/>
            <a:pathLst>
              <a:path w="542405" h="2057400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811096" y="1468419"/>
            <a:ext cx="14780696" cy="244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MUTUAL FUND ANALYTICS PLATFORM</a:t>
            </a:r>
          </a:p>
        </p:txBody>
      </p:sp>
      <p:sp>
        <p:nvSpPr>
          <p:cNvPr id="8" name="Freeform 8"/>
          <p:cNvSpPr/>
          <p:nvPr/>
        </p:nvSpPr>
        <p:spPr>
          <a:xfrm>
            <a:off x="16988097" y="2760644"/>
            <a:ext cx="542405" cy="2057400"/>
          </a:xfrm>
          <a:custGeom>
            <a:avLst/>
            <a:gdLst/>
            <a:ahLst/>
            <a:cxnLst/>
            <a:rect l="l" t="t" r="r" b="b"/>
            <a:pathLst>
              <a:path w="542405" h="2057400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124915" y="4249616"/>
            <a:ext cx="14153059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Data Engineering, ETL Pipeline &amp; Interactive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79502" y="7546001"/>
            <a:ext cx="6643885" cy="1583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Prepared by: Arushi Garg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Analyst Intern 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Bluestock Fintech Pvt. Ltd.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74542" y="122299"/>
            <a:ext cx="11103910" cy="246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29"/>
              </a:lnSpc>
            </a:pPr>
            <a:r>
              <a:rPr lang="en-US" sz="7021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THE PROBLEM WE SOLVED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59424" y="3322833"/>
            <a:ext cx="6464054" cy="460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284" lvl="1" indent="-313142" algn="l">
              <a:lnSpc>
                <a:spcPts val="4061"/>
              </a:lnSpc>
              <a:buFont typeface="Arial"/>
              <a:buChar char="•"/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Data scattered across multiple AMFI sources</a:t>
            </a:r>
          </a:p>
          <a:p>
            <a:pPr marL="626284" lvl="1" indent="-313142" algn="l">
              <a:lnSpc>
                <a:spcPts val="4061"/>
              </a:lnSpc>
              <a:buFont typeface="Arial"/>
              <a:buChar char="•"/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No risk-adjusted fund comparison tool  </a:t>
            </a:r>
          </a:p>
          <a:p>
            <a:pPr marL="626284" lvl="1" indent="-313142" algn="l">
              <a:lnSpc>
                <a:spcPts val="4061"/>
              </a:lnSpc>
              <a:buFont typeface="Arial"/>
              <a:buChar char="•"/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No benchmark tracking for investors</a:t>
            </a:r>
          </a:p>
          <a:p>
            <a:pPr marL="626284" lvl="1" indent="-313142" algn="l">
              <a:lnSpc>
                <a:spcPts val="4061"/>
              </a:lnSpc>
              <a:buFont typeface="Arial"/>
              <a:buChar char="•"/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Investor behaviour completely unanalysed</a:t>
            </a:r>
          </a:p>
          <a:p>
            <a:pPr marL="626284" lvl="1" indent="-313142" algn="l">
              <a:lnSpc>
                <a:spcPts val="4061"/>
              </a:lnSpc>
              <a:buFont typeface="Arial"/>
              <a:buChar char="•"/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Monthly reports are slow static PDFs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23174" y="2221703"/>
            <a:ext cx="273655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12458" y="2221703"/>
            <a:ext cx="2731988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</a:t>
            </a:r>
          </a:p>
          <a:p>
            <a:pPr algn="ctr">
              <a:lnSpc>
                <a:spcPts val="7279"/>
              </a:lnSpc>
            </a:pPr>
            <a:endParaRPr lang="en-US" sz="51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887951" y="3322833"/>
            <a:ext cx="6464054" cy="151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1"/>
              </a:lnSpc>
            </a:pPr>
            <a:r>
              <a:rPr lang="en-US" sz="2900">
                <a:solidFill>
                  <a:srgbClr val="0F232E"/>
                </a:solidFill>
                <a:latin typeface="PT Sans"/>
                <a:ea typeface="PT Sans"/>
                <a:cs typeface="PT Sans"/>
                <a:sym typeface="PT Sans"/>
              </a:rPr>
              <a:t> Built a complete Mutual Fund Analytics Platform covering ETL + Database + Dashboard + Risk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74542" y="-50945"/>
            <a:ext cx="11103910" cy="244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DATA SOURCES &amp; SCALE</a:t>
            </a:r>
          </a:p>
        </p:txBody>
      </p:sp>
      <p:sp>
        <p:nvSpPr>
          <p:cNvPr id="7" name="Freeform 7"/>
          <p:cNvSpPr/>
          <p:nvPr/>
        </p:nvSpPr>
        <p:spPr>
          <a:xfrm>
            <a:off x="288673" y="2551493"/>
            <a:ext cx="3648401" cy="2016570"/>
          </a:xfrm>
          <a:custGeom>
            <a:avLst/>
            <a:gdLst/>
            <a:ahLst/>
            <a:cxnLst/>
            <a:rect l="l" t="t" r="r" b="b"/>
            <a:pathLst>
              <a:path w="3648401" h="2016570">
                <a:moveTo>
                  <a:pt x="0" y="0"/>
                </a:moveTo>
                <a:lnTo>
                  <a:pt x="3648400" y="0"/>
                </a:lnTo>
                <a:lnTo>
                  <a:pt x="3648400" y="2016571"/>
                </a:lnTo>
                <a:lnTo>
                  <a:pt x="0" y="2016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02</a:t>
            </a:r>
          </a:p>
        </p:txBody>
      </p:sp>
      <p:sp>
        <p:nvSpPr>
          <p:cNvPr id="9" name="Freeform 9"/>
          <p:cNvSpPr/>
          <p:nvPr/>
        </p:nvSpPr>
        <p:spPr>
          <a:xfrm>
            <a:off x="4394273" y="2551493"/>
            <a:ext cx="3736338" cy="2065176"/>
          </a:xfrm>
          <a:custGeom>
            <a:avLst/>
            <a:gdLst/>
            <a:ahLst/>
            <a:cxnLst/>
            <a:rect l="l" t="t" r="r" b="b"/>
            <a:pathLst>
              <a:path w="3736338" h="2065176">
                <a:moveTo>
                  <a:pt x="0" y="0"/>
                </a:moveTo>
                <a:lnTo>
                  <a:pt x="3736338" y="0"/>
                </a:lnTo>
                <a:lnTo>
                  <a:pt x="3736338" y="2065176"/>
                </a:lnTo>
                <a:lnTo>
                  <a:pt x="0" y="2065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8879070" y="2600098"/>
            <a:ext cx="3648401" cy="2016570"/>
          </a:xfrm>
          <a:custGeom>
            <a:avLst/>
            <a:gdLst/>
            <a:ahLst/>
            <a:cxnLst/>
            <a:rect l="l" t="t" r="r" b="b"/>
            <a:pathLst>
              <a:path w="3648401" h="2016570">
                <a:moveTo>
                  <a:pt x="0" y="0"/>
                </a:moveTo>
                <a:lnTo>
                  <a:pt x="3648401" y="0"/>
                </a:lnTo>
                <a:lnTo>
                  <a:pt x="3648401" y="2016571"/>
                </a:lnTo>
                <a:lnTo>
                  <a:pt x="0" y="20165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3275930" y="2551493"/>
            <a:ext cx="3736338" cy="2065176"/>
          </a:xfrm>
          <a:custGeom>
            <a:avLst/>
            <a:gdLst/>
            <a:ahLst/>
            <a:cxnLst/>
            <a:rect l="l" t="t" r="r" b="b"/>
            <a:pathLst>
              <a:path w="3736338" h="2065176">
                <a:moveTo>
                  <a:pt x="0" y="0"/>
                </a:moveTo>
                <a:lnTo>
                  <a:pt x="3736338" y="0"/>
                </a:lnTo>
                <a:lnTo>
                  <a:pt x="3736338" y="2065176"/>
                </a:lnTo>
                <a:lnTo>
                  <a:pt x="0" y="2065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95979" y="3042123"/>
            <a:ext cx="3633788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40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FUND SCHEMES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54419" y="2989548"/>
            <a:ext cx="2773065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87,000+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ROWS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66212" y="3042123"/>
            <a:ext cx="3561259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32000+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INVESTOR TXNS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19978" y="2989548"/>
            <a:ext cx="2279650" cy="1073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4.5YEARS 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NAV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2245951" y="6187231"/>
            <a:ext cx="22779902" cy="1109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93"/>
              </a:lnSpc>
              <a:spcBef>
                <a:spcPct val="0"/>
              </a:spcBef>
            </a:pPr>
            <a:r>
              <a:rPr lang="en-US" sz="3209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Sources:</a:t>
            </a:r>
            <a:r>
              <a:rPr lang="en-US" sz="3209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AMFI India | mfapi.in REST API | NSE India | BSE India</a:t>
            </a:r>
          </a:p>
          <a:p>
            <a:pPr algn="ctr">
              <a:lnSpc>
                <a:spcPts val="4493"/>
              </a:lnSpc>
              <a:spcBef>
                <a:spcPct val="0"/>
              </a:spcBef>
            </a:pPr>
            <a:r>
              <a:rPr lang="en-US" sz="3209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 Datasets | 10 Fund Houses | 40 Schemes | 5,000 Investors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716" y="14677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228600" y="-104775"/>
            <a:ext cx="18059400" cy="89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83"/>
              </a:lnSpc>
            </a:pPr>
            <a:r>
              <a:rPr lang="en-US" sz="5202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HOW WE BUILT IT — 5 LAYER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03</a:t>
            </a:r>
          </a:p>
        </p:txBody>
      </p:sp>
      <p:sp>
        <p:nvSpPr>
          <p:cNvPr id="5" name="Freeform 5"/>
          <p:cNvSpPr/>
          <p:nvPr/>
        </p:nvSpPr>
        <p:spPr>
          <a:xfrm>
            <a:off x="5862548" y="14677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1559504" y="14677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1491823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5862548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4346516" y="3525146"/>
            <a:ext cx="1448693" cy="188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 dirty="0"/>
          </a:p>
        </p:txBody>
      </p:sp>
      <p:sp>
        <p:nvSpPr>
          <p:cNvPr id="10" name="AutoShape 10"/>
          <p:cNvSpPr/>
          <p:nvPr/>
        </p:nvSpPr>
        <p:spPr>
          <a:xfrm flipV="1">
            <a:off x="9980054" y="3525146"/>
            <a:ext cx="1579450" cy="188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 flipH="1">
            <a:off x="9977348" y="8639608"/>
            <a:ext cx="158215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3328484" y="5518452"/>
            <a:ext cx="6516" cy="6537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231716" y="1801636"/>
            <a:ext cx="4298559" cy="357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3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EXTRACT</a:t>
            </a:r>
          </a:p>
          <a:p>
            <a:pPr algn="l">
              <a:lnSpc>
                <a:spcPts val="3351"/>
              </a:lnSpc>
            </a:pPr>
            <a:endParaRPr lang="en-US" sz="2393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marL="516811" lvl="1" indent="-258406" algn="l">
              <a:lnSpc>
                <a:spcPts val="5768"/>
              </a:lnSpc>
              <a:buFont typeface="Arial"/>
              <a:buChar char="•"/>
            </a:pPr>
            <a:r>
              <a:rPr lang="en-US" sz="23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AMFI CSV Files</a:t>
            </a:r>
          </a:p>
          <a:p>
            <a:pPr marL="516811" lvl="1" indent="-258406" algn="l">
              <a:lnSpc>
                <a:spcPts val="5768"/>
              </a:lnSpc>
              <a:buFont typeface="Arial"/>
              <a:buChar char="•"/>
            </a:pPr>
            <a:r>
              <a:rPr lang="en-US" sz="23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mfapi.in RESTAPI     </a:t>
            </a:r>
          </a:p>
          <a:p>
            <a:pPr marL="516811" lvl="1" indent="-258406" algn="l">
              <a:lnSpc>
                <a:spcPts val="5768"/>
              </a:lnSpc>
              <a:buFont typeface="Arial"/>
              <a:buChar char="•"/>
            </a:pPr>
            <a:r>
              <a:rPr lang="en-US" sz="23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NSE/BSE Data</a:t>
            </a:r>
          </a:p>
          <a:p>
            <a:pPr marL="516811" lvl="1" indent="-258406" algn="l">
              <a:lnSpc>
                <a:spcPts val="5768"/>
              </a:lnSpc>
              <a:buFont typeface="Arial"/>
              <a:buChar char="•"/>
            </a:pPr>
            <a:r>
              <a:rPr lang="en-US" sz="23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Raw Data Collection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6011" y="1811161"/>
            <a:ext cx="4298559" cy="3409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TRANSFORM</a:t>
            </a:r>
          </a:p>
          <a:p>
            <a:pPr algn="l">
              <a:lnSpc>
                <a:spcPts val="3071"/>
              </a:lnSpc>
            </a:pPr>
            <a:endParaRPr lang="en-US" sz="2193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3553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Python</a:t>
            </a:r>
          </a:p>
          <a:p>
            <a:pPr algn="l">
              <a:lnSpc>
                <a:spcPts val="3553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Pandas</a:t>
            </a:r>
          </a:p>
          <a:p>
            <a:pPr algn="l">
              <a:lnSpc>
                <a:spcPts val="3553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Data Cleaning</a:t>
            </a:r>
          </a:p>
          <a:p>
            <a:pPr algn="l">
              <a:lnSpc>
                <a:spcPts val="3553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Missing Value Handling</a:t>
            </a:r>
          </a:p>
          <a:p>
            <a:pPr algn="l">
              <a:lnSpc>
                <a:spcPts val="3553"/>
              </a:lnSpc>
            </a:pPr>
            <a:r>
              <a:rPr lang="en-US" sz="2193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Date Standardization• Feature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93082" y="1787155"/>
            <a:ext cx="3085371" cy="330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LOAD</a:t>
            </a:r>
          </a:p>
          <a:p>
            <a:pPr algn="l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SQLite Database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SQLAlchemy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Star Schema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5 Tables</a:t>
            </a:r>
          </a:p>
          <a:p>
            <a:pPr algn="l">
              <a:lnSpc>
                <a:spcPts val="3809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Indexed Storage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6538" y="6549255"/>
            <a:ext cx="3085371" cy="330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ANALYSE</a:t>
            </a:r>
          </a:p>
          <a:p>
            <a:pPr algn="l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Jupyter Notebooks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NumPy &amp; SciPy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EDA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15+ Charts</a:t>
            </a:r>
          </a:p>
          <a:p>
            <a:pPr algn="l">
              <a:lnSpc>
                <a:spcPts val="3809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Risk Metrics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72929" y="6477779"/>
            <a:ext cx="3804419" cy="337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VISUALISE</a:t>
            </a:r>
          </a:p>
          <a:p>
            <a:pPr algn="l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Power BI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4-Page Dashboard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KPI Cards</a:t>
            </a:r>
          </a:p>
          <a:p>
            <a:pPr algn="l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Interactive Slicers</a:t>
            </a:r>
          </a:p>
          <a:p>
            <a:pPr algn="l">
              <a:lnSpc>
                <a:spcPts val="3809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• Drill-through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01115" y="-142875"/>
            <a:ext cx="9865135" cy="244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WHAT THE DATA SHOWED US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2903196"/>
            <a:ext cx="10040824" cy="3929782"/>
          </a:xfrm>
          <a:custGeom>
            <a:avLst/>
            <a:gdLst/>
            <a:ahLst/>
            <a:cxnLst/>
            <a:rect l="l" t="t" r="r" b="b"/>
            <a:pathLst>
              <a:path w="10040824" h="3929782">
                <a:moveTo>
                  <a:pt x="0" y="0"/>
                </a:moveTo>
                <a:lnTo>
                  <a:pt x="10040824" y="0"/>
                </a:lnTo>
                <a:lnTo>
                  <a:pt x="10040824" y="3929782"/>
                </a:lnTo>
                <a:lnTo>
                  <a:pt x="0" y="3929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025" b="-1046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10237149" y="2903196"/>
            <a:ext cx="8050851" cy="5750608"/>
          </a:xfrm>
          <a:custGeom>
            <a:avLst/>
            <a:gdLst/>
            <a:ahLst/>
            <a:cxnLst/>
            <a:rect l="l" t="t" r="r" b="b"/>
            <a:pathLst>
              <a:path w="8050851" h="5750608">
                <a:moveTo>
                  <a:pt x="0" y="0"/>
                </a:moveTo>
                <a:lnTo>
                  <a:pt x="8050851" y="0"/>
                </a:lnTo>
                <a:lnTo>
                  <a:pt x="8050851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375903"/>
            <a:ext cx="8536161" cy="245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740" lvl="1" indent="-253870" algn="l">
              <a:lnSpc>
                <a:spcPts val="3292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SBI Mutual Fund leads with highest AUM in India</a:t>
            </a:r>
          </a:p>
          <a:p>
            <a:pPr marL="507740" lvl="1" indent="-253870" algn="l">
              <a:lnSpc>
                <a:spcPts val="3292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All equity fund NAVs showed strong upward trend 2022-2026</a:t>
            </a:r>
          </a:p>
          <a:p>
            <a:pPr marL="507740" lvl="1" indent="-253870" algn="l">
              <a:lnSpc>
                <a:spcPts val="3292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Large Cap funds showed lower volatility vs Mid/Small Cap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0" y="1958519"/>
            <a:ext cx="9911048" cy="5321980"/>
          </a:xfrm>
          <a:custGeom>
            <a:avLst/>
            <a:gdLst/>
            <a:ahLst/>
            <a:cxnLst/>
            <a:rect l="l" t="t" r="r" b="b"/>
            <a:pathLst>
              <a:path w="9911048" h="5321980">
                <a:moveTo>
                  <a:pt x="0" y="0"/>
                </a:moveTo>
                <a:lnTo>
                  <a:pt x="9911048" y="0"/>
                </a:lnTo>
                <a:lnTo>
                  <a:pt x="9911048" y="5321981"/>
                </a:lnTo>
                <a:lnTo>
                  <a:pt x="0" y="5321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592" r="-2874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9911048" y="2810904"/>
            <a:ext cx="8310402" cy="6224723"/>
          </a:xfrm>
          <a:custGeom>
            <a:avLst/>
            <a:gdLst/>
            <a:ahLst/>
            <a:cxnLst/>
            <a:rect l="l" t="t" r="r" b="b"/>
            <a:pathLst>
              <a:path w="8310402" h="6224723">
                <a:moveTo>
                  <a:pt x="0" y="0"/>
                </a:moveTo>
                <a:lnTo>
                  <a:pt x="8310403" y="0"/>
                </a:lnTo>
                <a:lnTo>
                  <a:pt x="8310403" y="6224723"/>
                </a:lnTo>
                <a:lnTo>
                  <a:pt x="0" y="62247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7" r="-68039" b="-337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3708958" y="-104775"/>
            <a:ext cx="9972307" cy="182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SIP GROWTH STORY &amp; INVESTOR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008225" y="9407153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7629597"/>
            <a:ext cx="9811048" cy="1145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561" lvl="1" indent="-232281" algn="just">
              <a:lnSpc>
                <a:spcPts val="3012"/>
              </a:lnSpc>
              <a:buFont typeface="Arial"/>
              <a:buChar char="•"/>
            </a:pPr>
            <a:r>
              <a:rPr lang="en-US" sz="21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SIP inflows hit ALL TIME HIGH of Rs. 31,002 Cr in Dec 2025</a:t>
            </a:r>
          </a:p>
          <a:p>
            <a:pPr marL="464561" lvl="1" indent="-232281" algn="just">
              <a:lnSpc>
                <a:spcPts val="3012"/>
              </a:lnSpc>
              <a:buFont typeface="Arial"/>
              <a:buChar char="•"/>
            </a:pPr>
            <a:r>
              <a:rPr lang="en-US" sz="21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Total folios DOUBLED from 13.26 Cr to 26.12 Cr (2022-2025)</a:t>
            </a:r>
          </a:p>
          <a:p>
            <a:pPr marL="464561" lvl="1" indent="-232281" algn="just">
              <a:lnSpc>
                <a:spcPts val="3012"/>
              </a:lnSpc>
              <a:buFont typeface="Arial"/>
              <a:buChar char="•"/>
            </a:pPr>
            <a:r>
              <a:rPr lang="en-US" sz="21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Age group 26-35 contributes highest average SIP amount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1085" y="-123825"/>
            <a:ext cx="9085165" cy="192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8"/>
              </a:lnSpc>
            </a:pPr>
            <a:r>
              <a:rPr lang="en-US" sz="5477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HOW WE MEASURED FUND PERFORMANCE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06</a:t>
            </a:r>
          </a:p>
        </p:txBody>
      </p:sp>
      <p:sp>
        <p:nvSpPr>
          <p:cNvPr id="6" name="Freeform 6"/>
          <p:cNvSpPr/>
          <p:nvPr/>
        </p:nvSpPr>
        <p:spPr>
          <a:xfrm>
            <a:off x="302098" y="2127955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8" y="0"/>
                </a:lnTo>
                <a:lnTo>
                  <a:pt x="3162658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302098" y="5936579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8" y="0"/>
                </a:lnTo>
                <a:lnTo>
                  <a:pt x="3162658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3254163" y="2280355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9" y="0"/>
                </a:lnTo>
                <a:lnTo>
                  <a:pt x="3162659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6853005" y="2127955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8" y="0"/>
                </a:lnTo>
                <a:lnTo>
                  <a:pt x="3162658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>
            <a:off x="6853005" y="5936579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8" y="0"/>
                </a:lnTo>
                <a:lnTo>
                  <a:pt x="3162658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>
          <a:xfrm>
            <a:off x="13403913" y="5936579"/>
            <a:ext cx="3162658" cy="3162658"/>
          </a:xfrm>
          <a:custGeom>
            <a:avLst/>
            <a:gdLst/>
            <a:ahLst/>
            <a:cxnLst/>
            <a:rect l="l" t="t" r="r" b="b"/>
            <a:pathLst>
              <a:path w="3162658" h="3162658">
                <a:moveTo>
                  <a:pt x="0" y="0"/>
                </a:moveTo>
                <a:lnTo>
                  <a:pt x="3162658" y="0"/>
                </a:lnTo>
                <a:lnTo>
                  <a:pt x="3162658" y="3162658"/>
                </a:lnTo>
                <a:lnTo>
                  <a:pt x="0" y="3162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398341" y="2156530"/>
            <a:ext cx="2873276" cy="311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CAGR</a:t>
            </a:r>
          </a:p>
          <a:p>
            <a:pPr algn="ctr">
              <a:lnSpc>
                <a:spcPts val="3080"/>
              </a:lnSpc>
            </a:pPr>
            <a:endParaRPr lang="en-US" sz="2200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Compound Annual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Growth Rate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the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yearly growth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rate of a fund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40162" y="2324688"/>
            <a:ext cx="2788345" cy="286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SHARPE</a:t>
            </a:r>
          </a:p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RATIO</a:t>
            </a:r>
          </a:p>
          <a:p>
            <a:pPr algn="ctr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return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earned per unit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of total risk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taken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1504" y="2400888"/>
            <a:ext cx="2788345" cy="286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ALPHA</a:t>
            </a:r>
          </a:p>
          <a:p>
            <a:pPr algn="ctr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how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much a fund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outperforms its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benchmark index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3650" y="6071405"/>
            <a:ext cx="3162658" cy="2454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BETA</a:t>
            </a:r>
          </a:p>
          <a:p>
            <a:pPr algn="ctr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a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fund's sensitivity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to market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movements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50363" y="6057113"/>
            <a:ext cx="3367943" cy="286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VALUE AT RISK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(VaR)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the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maximum 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expected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daily loss at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95% confidence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452056" y="6043088"/>
            <a:ext cx="3162658" cy="286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MAXIMUM</a:t>
            </a:r>
          </a:p>
          <a:p>
            <a:pPr algn="ctr">
              <a:lnSpc>
                <a:spcPts val="3292"/>
              </a:lnSpc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DRAWDOWN</a:t>
            </a:r>
          </a:p>
          <a:p>
            <a:pPr algn="ctr">
              <a:lnSpc>
                <a:spcPts val="3292"/>
              </a:lnSpc>
            </a:pPr>
            <a:endParaRPr lang="en-US" sz="2351" b="1">
              <a:solidFill>
                <a:srgbClr val="FFFFFF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Measures the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worst peak-to-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trough decline</a:t>
            </a:r>
          </a:p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FFFFFF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of a fund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6741" y="2712914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-1743538" y="438322"/>
            <a:ext cx="20031538" cy="388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FUND RANKINGS — COMPOSITE SCORECARD</a:t>
            </a:r>
          </a:p>
          <a:p>
            <a:pPr algn="ctr">
              <a:lnSpc>
                <a:spcPts val="3613"/>
              </a:lnSpc>
            </a:pPr>
            <a:endParaRPr lang="en-US" sz="6500" b="1">
              <a:solidFill>
                <a:srgbClr val="0F232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  <a:p>
            <a:pPr algn="ctr">
              <a:lnSpc>
                <a:spcPts val="9100"/>
              </a:lnSpc>
            </a:pPr>
            <a:endParaRPr lang="en-US" sz="6500" b="1">
              <a:solidFill>
                <a:srgbClr val="0F232E"/>
              </a:solidFill>
              <a:latin typeface="DejaVu Sans Bold"/>
              <a:ea typeface="DejaVu Sans Bold"/>
              <a:cs typeface="DejaVu Sans Bold"/>
              <a:sym typeface="DejaVu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9249" y="2655764"/>
            <a:ext cx="6381579" cy="327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Scorecard Weights: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 Year Returns ———— 30%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Sharpe Ratio  ———— 25%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Alpha         ———— 20%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Expense Ratio ————15%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Max Drawdown  ———— 10%</a:t>
            </a:r>
          </a:p>
          <a:p>
            <a:pPr marL="507740" lvl="1" indent="-253870" algn="just">
              <a:lnSpc>
                <a:spcPts val="3292"/>
              </a:lnSpc>
              <a:buFont typeface="Arial"/>
              <a:buChar char="•"/>
            </a:pPr>
            <a:r>
              <a:rPr lang="en-US" sz="2351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Result: Data-driven ranking of all 40 funds from 0-100 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837935" y="375130"/>
            <a:ext cx="10940518" cy="106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96"/>
              </a:lnSpc>
            </a:pPr>
            <a:r>
              <a:rPr lang="en-US" sz="6212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DASHBOARD PAGE 1 &amp; 2</a:t>
            </a:r>
          </a:p>
        </p:txBody>
      </p:sp>
      <p:sp>
        <p:nvSpPr>
          <p:cNvPr id="7" name="Freeform 7"/>
          <p:cNvSpPr/>
          <p:nvPr/>
        </p:nvSpPr>
        <p:spPr>
          <a:xfrm>
            <a:off x="243393" y="2474172"/>
            <a:ext cx="8900607" cy="4806328"/>
          </a:xfrm>
          <a:custGeom>
            <a:avLst/>
            <a:gdLst/>
            <a:ahLst/>
            <a:cxnLst/>
            <a:rect l="l" t="t" r="r" b="b"/>
            <a:pathLst>
              <a:path w="8900607" h="4806328">
                <a:moveTo>
                  <a:pt x="0" y="0"/>
                </a:moveTo>
                <a:lnTo>
                  <a:pt x="8900607" y="0"/>
                </a:lnTo>
                <a:lnTo>
                  <a:pt x="8900607" y="4806328"/>
                </a:lnTo>
                <a:lnTo>
                  <a:pt x="0" y="480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9308194" y="3267101"/>
            <a:ext cx="8979806" cy="4804196"/>
          </a:xfrm>
          <a:custGeom>
            <a:avLst/>
            <a:gdLst/>
            <a:ahLst/>
            <a:cxnLst/>
            <a:rect l="l" t="t" r="r" b="b"/>
            <a:pathLst>
              <a:path w="8979806" h="4804196">
                <a:moveTo>
                  <a:pt x="0" y="0"/>
                </a:moveTo>
                <a:lnTo>
                  <a:pt x="8979806" y="0"/>
                </a:lnTo>
                <a:lnTo>
                  <a:pt x="8979806" y="4804196"/>
                </a:lnTo>
                <a:lnTo>
                  <a:pt x="0" y="4804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3393" y="7223350"/>
            <a:ext cx="8900607" cy="52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1 — Industry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87393" y="2583842"/>
            <a:ext cx="8900607" cy="52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2 — Fund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92045" y="636190"/>
            <a:ext cx="11103910" cy="1061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DASHBOARD PAGE 3 &amp; 4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2234679"/>
            <a:ext cx="8762415" cy="4676939"/>
          </a:xfrm>
          <a:custGeom>
            <a:avLst/>
            <a:gdLst/>
            <a:ahLst/>
            <a:cxnLst/>
            <a:rect l="l" t="t" r="r" b="b"/>
            <a:pathLst>
              <a:path w="8762415" h="4676939">
                <a:moveTo>
                  <a:pt x="0" y="0"/>
                </a:moveTo>
                <a:lnTo>
                  <a:pt x="8762415" y="0"/>
                </a:lnTo>
                <a:lnTo>
                  <a:pt x="8762415" y="4676939"/>
                </a:lnTo>
                <a:lnTo>
                  <a:pt x="0" y="4676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9299602" y="3242331"/>
            <a:ext cx="8988398" cy="4853735"/>
          </a:xfrm>
          <a:custGeom>
            <a:avLst/>
            <a:gdLst/>
            <a:ahLst/>
            <a:cxnLst/>
            <a:rect l="l" t="t" r="r" b="b"/>
            <a:pathLst>
              <a:path w="8988398" h="4853735">
                <a:moveTo>
                  <a:pt x="0" y="0"/>
                </a:moveTo>
                <a:lnTo>
                  <a:pt x="8988398" y="0"/>
                </a:lnTo>
                <a:lnTo>
                  <a:pt x="8988398" y="4853736"/>
                </a:lnTo>
                <a:lnTo>
                  <a:pt x="0" y="48537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3252" y="7048429"/>
            <a:ext cx="4730155" cy="40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PAGE 3 — Investor Analytics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6685" y="2701807"/>
            <a:ext cx="5114231" cy="40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spcBef>
                <a:spcPct val="0"/>
              </a:spcBef>
            </a:pPr>
            <a:r>
              <a:rPr lang="en-US" sz="2351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PAGE 4 — SIP &amp; Market Trends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92045" y="-123825"/>
            <a:ext cx="11103910" cy="215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sz="6200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WHAT WE FOUND &amp; WHAT WE RECOMMEND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61504" y="9153525"/>
            <a:ext cx="1316949" cy="87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4"/>
              </a:lnSpc>
            </a:pPr>
            <a:r>
              <a:rPr lang="en-US" sz="5110" b="1">
                <a:solidFill>
                  <a:srgbClr val="58849A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27022" y="2738725"/>
            <a:ext cx="5097610" cy="503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4"/>
              </a:lnSpc>
              <a:spcBef>
                <a:spcPct val="0"/>
              </a:spcBef>
            </a:pPr>
            <a:r>
              <a:rPr lang="en-US" sz="2360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FINDINGS </a:t>
            </a:r>
          </a:p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SBI MF dominates with highest AUM </a:t>
            </a:r>
          </a:p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SIP hit record Rs.31,002 Cr in Dec 2025Equity funds best on risk-adjusted basis </a:t>
            </a:r>
          </a:p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Age 26-35 most active SIP investors</a:t>
            </a:r>
          </a:p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Many funds show negative alpha </a:t>
            </a:r>
          </a:p>
          <a:p>
            <a:pPr marL="509525" lvl="1" indent="-254762" algn="l">
              <a:lnSpc>
                <a:spcPts val="3304"/>
              </a:lnSpc>
              <a:buFont typeface="Arial"/>
              <a:buChar char="•"/>
            </a:pPr>
            <a:r>
              <a:rPr lang="en-US" sz="236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Small Cap carries 2x higher daily risk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36867" y="2738725"/>
            <a:ext cx="6929833" cy="452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1"/>
              </a:lnSpc>
              <a:spcBef>
                <a:spcPct val="0"/>
              </a:spcBef>
            </a:pPr>
            <a:r>
              <a:rPr lang="en-US" sz="2358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RECOMMENDATIONS</a:t>
            </a:r>
          </a:p>
          <a:p>
            <a:pPr marL="509196" lvl="1" indent="-254598" algn="l">
              <a:lnSpc>
                <a:spcPts val="3301"/>
              </a:lnSpc>
              <a:buFont typeface="Arial"/>
              <a:buChar char="•"/>
            </a:pPr>
            <a:r>
              <a:rPr lang="en-US" sz="2358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 </a:t>
            </a:r>
            <a:r>
              <a:rPr lang="en-US" sz="2358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Conservative investors → Large Cap, Sharpe &gt; 1</a:t>
            </a:r>
          </a:p>
          <a:p>
            <a:pPr marL="509196" lvl="1" indent="-254598" algn="l">
              <a:lnSpc>
                <a:spcPts val="3301"/>
              </a:lnSpc>
              <a:buFont typeface="Arial"/>
              <a:buChar char="•"/>
            </a:pPr>
            <a:r>
              <a:rPr lang="en-US" sz="2358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Aggressive investors → Mid/Small Cap with +Alpha</a:t>
            </a:r>
          </a:p>
          <a:p>
            <a:pPr marL="509196" lvl="1" indent="-254598" algn="l">
              <a:lnSpc>
                <a:spcPts val="3301"/>
              </a:lnSpc>
              <a:buFont typeface="Arial"/>
              <a:buChar char="•"/>
            </a:pPr>
            <a:r>
              <a:rPr lang="en-US" sz="2358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Always choose Direct plan over Regular plan</a:t>
            </a:r>
          </a:p>
          <a:p>
            <a:pPr marL="509196" lvl="1" indent="-254598" algn="l">
              <a:lnSpc>
                <a:spcPts val="3301"/>
              </a:lnSpc>
              <a:buFont typeface="Arial"/>
              <a:buChar char="•"/>
            </a:pPr>
            <a:r>
              <a:rPr lang="en-US" sz="2358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Focus B30 cities for SIP growth opportunity</a:t>
            </a:r>
          </a:p>
          <a:p>
            <a:pPr marL="509196" lvl="1" indent="-254598" algn="l">
              <a:lnSpc>
                <a:spcPts val="3301"/>
              </a:lnSpc>
              <a:buFont typeface="Arial"/>
              <a:buChar char="•"/>
            </a:pPr>
            <a:r>
              <a:rPr lang="en-US" sz="2358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Send automated reminders to at-risk SIP investors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753652" y="1646722"/>
            <a:ext cx="14780696" cy="196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65"/>
              </a:lnSpc>
            </a:pPr>
            <a:r>
              <a:rPr lang="en-US" sz="11475" b="1">
                <a:solidFill>
                  <a:srgbClr val="0F232E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757497" y="5507354"/>
            <a:ext cx="542405" cy="2057400"/>
          </a:xfrm>
          <a:custGeom>
            <a:avLst/>
            <a:gdLst/>
            <a:ahLst/>
            <a:cxnLst/>
            <a:rect l="l" t="t" r="r" b="b"/>
            <a:pathLst>
              <a:path w="542405" h="2057400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Freeform 8"/>
          <p:cNvSpPr/>
          <p:nvPr/>
        </p:nvSpPr>
        <p:spPr>
          <a:xfrm>
            <a:off x="16988097" y="2722246"/>
            <a:ext cx="542405" cy="2057400"/>
          </a:xfrm>
          <a:custGeom>
            <a:avLst/>
            <a:gdLst/>
            <a:ahLst/>
            <a:cxnLst/>
            <a:rect l="l" t="t" r="r" b="b"/>
            <a:pathLst>
              <a:path w="542405" h="2057400">
                <a:moveTo>
                  <a:pt x="0" y="0"/>
                </a:moveTo>
                <a:lnTo>
                  <a:pt x="542406" y="0"/>
                </a:lnTo>
                <a:lnTo>
                  <a:pt x="542406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6222553" y="3836802"/>
            <a:ext cx="5842893" cy="253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4"/>
              </a:lnSpc>
            </a:pPr>
            <a:r>
              <a:rPr lang="en-US" sz="361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Arushi garg</a:t>
            </a:r>
          </a:p>
          <a:p>
            <a:pPr algn="ctr">
              <a:lnSpc>
                <a:spcPts val="5054"/>
              </a:lnSpc>
            </a:pPr>
            <a:r>
              <a:rPr lang="en-US" sz="361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data analyst intern</a:t>
            </a:r>
          </a:p>
          <a:p>
            <a:pPr algn="ctr">
              <a:lnSpc>
                <a:spcPts val="5054"/>
              </a:lnSpc>
            </a:pPr>
            <a:r>
              <a:rPr lang="en-US" sz="361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bluestock fintech pvt.Ltd.</a:t>
            </a:r>
          </a:p>
          <a:p>
            <a:pPr algn="ctr">
              <a:lnSpc>
                <a:spcPts val="5054"/>
              </a:lnSpc>
              <a:spcBef>
                <a:spcPct val="0"/>
              </a:spcBef>
            </a:pPr>
            <a:r>
              <a:rPr lang="en-US" sz="361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june 2026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476160" y="6657565"/>
            <a:ext cx="1438840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Github: </a:t>
            </a:r>
            <a:r>
              <a:rPr lang="en-US" sz="360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https://github.com/arushigarg880/bluestock-capstone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267200" y="8300311"/>
            <a:ext cx="10153254" cy="398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dirty="0">
                <a:solidFill>
                  <a:srgbClr val="58849A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"Transforming raw AMFI data into actionable investment intelligence"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592</Words>
  <Application>Microsoft Office PowerPoint</Application>
  <PresentationFormat>Custom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Open Sans</vt:lpstr>
      <vt:lpstr>Calibri</vt:lpstr>
      <vt:lpstr>PT Sans</vt:lpstr>
      <vt:lpstr>DejaVu Sans Bold</vt:lpstr>
      <vt:lpstr>Canva Sans Bold</vt:lpstr>
      <vt:lpstr>DejaVu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creator>gb</dc:creator>
  <cp:lastModifiedBy>ARUSHI GARG</cp:lastModifiedBy>
  <cp:revision>2</cp:revision>
  <dcterms:created xsi:type="dcterms:W3CDTF">2006-08-16T00:00:00Z</dcterms:created>
  <dcterms:modified xsi:type="dcterms:W3CDTF">2026-06-12T15:21:54Z</dcterms:modified>
  <dc:identifier>DAHMXTlrTd8</dc:identifier>
</cp:coreProperties>
</file>